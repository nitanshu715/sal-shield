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81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502920"/>
            <a:ext cx="6400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PROJECT PRESENTATION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11486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SAL-SHIELD</a:t>
            </a:r>
            <a:endParaRPr lang="en-US" sz="68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8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GIS-Based Forest Infestation Early Warning Platform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2432304"/>
            <a:ext cx="457200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578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&amp; Predicting Hoplocerambyx spinicornis Outbreak in Himalayan Sal Forests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Sentinel-2 Satellite Intelligence · Machine Learning · WebGIS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2031" y="3532749"/>
            <a:ext cx="8229600" cy="1325880"/>
          </a:xfrm>
          <a:prstGeom prst="rect">
            <a:avLst/>
          </a:prstGeom>
          <a:solidFill>
            <a:srgbClr val="0F2A1A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EC"/>
                </a:solidFill>
              </a:rPr>
              <a:t>Nitanshu Tak  </a:t>
            </a:r>
            <a:r>
              <a:rPr lang="en-US" sz="1100" dirty="0">
                <a:solidFill>
                  <a:srgbClr val="6B8F72"/>
                </a:solidFill>
              </a:rPr>
              <a:t>B.Tech CSE (Cloud &amp; Virtualization) · SDE @ SapMen C. 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03918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EC"/>
                </a:solidFill>
              </a:rPr>
              <a:t>Chandreyee Dey Roy  </a:t>
            </a:r>
            <a:r>
              <a:rPr lang="en-US" sz="1100" dirty="0">
                <a:solidFill>
                  <a:srgbClr val="6B8F72"/>
                </a:solidFill>
              </a:rPr>
              <a:t>GIS &amp; Satellite Data Processing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553712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Nadeem Yousuf Khan · UPES Dehradun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81821" y="4195689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B84B"/>
                </a:solidFill>
              </a:rPr>
              <a:t>HILL Conference · October 2026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41D22E-50B9-5260-0E5A-EC00271E2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-12837"/>
            <a:ext cx="3505845" cy="3733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8049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ECOLOGICAL CRISIS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065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 Forest Destruction in Uttarakhand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017520" cy="178308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42177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19,170+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78C"/>
                </a:solidFill>
              </a:rPr>
              <a:t>Sal trees marked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D78C"/>
                </a:solidFill>
              </a:rPr>
              <a:t>emergency felling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D78C"/>
                </a:solidFill>
              </a:rPr>
              <a:t>Dehradun Division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465576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66160" y="8686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10642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960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Hoplocerambyx spinicornis larvae hollow trees from root to crown, severing all nutrient and water transport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66160" y="192024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2157984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519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2025 monsoon rainfall (highest in 10 years) created ideal high-moisture beetle breeding conditions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566160" y="297180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209544"/>
            <a:ext cx="402336" cy="40233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251960" y="3063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monoculture Sal plantations eliminated biodiversity barriers, enabling unchecked radial spread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3566160" y="402336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4261104"/>
            <a:ext cx="402336" cy="4023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251960" y="41148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visible tree death occurs, the beetle has already colonised 15-30 adjacent trees — current detection fails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03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96709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Detection Is Too Late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68216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detection gap between infestation and visible symptoms spans 4–8 weeks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306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Beetle lays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in root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636776" y="1371600"/>
            <a:ext cx="182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72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10512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0512" y="1095874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10512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bore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trunk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3081528" y="1371600"/>
            <a:ext cx="182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72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55264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1095874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55264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cut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526280" y="1371600"/>
            <a:ext cx="182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72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0016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105721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0016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stress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by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971032" y="1371600"/>
            <a:ext cx="182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72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44768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115568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10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4768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visually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drying out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415784" y="1371600"/>
            <a:ext cx="182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8F72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89520" y="896112"/>
            <a:ext cx="1280160" cy="12070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98664" y="1115568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Week 14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89520" y="1170432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7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reports</a:t>
            </a:r>
            <a:endParaRPr lang="en-US" sz="870" dirty="0"/>
          </a:p>
          <a:p>
            <a:pPr marL="0" indent="0" algn="ctr">
              <a:buNone/>
            </a:pPr>
            <a:r>
              <a:rPr lang="en-US" sz="87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tree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365760" y="2212848"/>
            <a:ext cx="8412480" cy="566928"/>
          </a:xfrm>
          <a:prstGeom prst="rect">
            <a:avLst/>
          </a:prstGeom>
          <a:solidFill>
            <a:srgbClr val="401010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228600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FAILURE ZONE  —  By the time forest guards report a dead tree, the infestation has already spread to 15–30 neighbouring trees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907792"/>
            <a:ext cx="8412480" cy="713232"/>
          </a:xfrm>
          <a:prstGeom prst="rect">
            <a:avLst/>
          </a:prstGeom>
          <a:solidFill>
            <a:srgbClr val="1A402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99008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SAL-SHIELD shifts detection to Week 6 — when satellite indices first show stress — enabling intervention BEFORE visible tree death.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3767328"/>
            <a:ext cx="2651760" cy="1078992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16326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</a:rPr>
              <a:t>✗ No Early Warning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11480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No system exists to predict which forest zones will be infested next week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0" y="3767328"/>
            <a:ext cx="2651760" cy="1078992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00984" y="4030394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</a:rPr>
              <a:t>✗ No Spatial Intelligence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91840" y="411480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Forest departments cannot see infestation spread patterns across a map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35040" y="3767328"/>
            <a:ext cx="2651760" cy="1078992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995224"/>
            <a:ext cx="2468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252"/>
                </a:solidFill>
              </a:rPr>
              <a:t>✗ No Field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4114800"/>
            <a:ext cx="2468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Guards assess tree health visually with no tool to quantify infection probability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9694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7255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SAL-SHIELD Platform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zero-cost, fully deployable WebGIS platform combining satellite intelligence with field-level AI — giving forest departments the ability to predict, detect, and respond to Sal borer infestation before trees die.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2011680" cy="3154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719072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257175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A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2697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Sentinel-2 satellite NDVI/NDMI/NBR analysis identifies vegetation stress weeks before visible damage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514600" y="1600200"/>
            <a:ext cx="2011680" cy="3154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719072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4600" y="256893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606040" y="2697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ML ensemble (RF+XGB) generates SBVI risk maps — Sal Borer Vulnerability Index across the entire forest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63440" y="1600200"/>
            <a:ext cx="2011680" cy="3154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1719072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663440" y="2552055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VISUALISE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754880" y="2697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Interactive WebGIS dashboard renders real-time risk zones with clickable detail for each forest patch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812280" y="1600200"/>
            <a:ext cx="2011680" cy="3154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2088" y="1719072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12280" y="2549241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903720" y="269748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Offline PWA enables field guards to photograph trees and get instant AI health classification anywhere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A3E446A-4C74-513D-1594-CA3A81C153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3199" y="-77812"/>
            <a:ext cx="2079381" cy="20793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PIPELINE · Chandreyee Dey Roy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9518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Sentinel-2 Multitemporal Analysis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134" y="83703"/>
            <a:ext cx="886265" cy="8862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60120"/>
            <a:ext cx="5029200" cy="868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188720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NDVI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344168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(NIR − Red) / (NIR + Red)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103120" y="103327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Vegetation photosynthetic activity. Healthy Sal: 0.65–0.80. Infested: 0.25–0.45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1947672"/>
            <a:ext cx="5029200" cy="868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143213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NDMI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" y="23317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(NIR − SWIR) / (NIR + SWIR)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03120" y="2020824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Canopy moisture stress. TOP PREDICTOR in our model (importance: 0.073)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935224"/>
            <a:ext cx="5029200" cy="868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165935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NBR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331927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(NIR − SWIR2) / (NIR + SWIR2)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103120" y="3008376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Burn ratio — detects dead/severely stressed vegetation similar to post-fire damage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3922776"/>
            <a:ext cx="5029200" cy="86868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167554"/>
            <a:ext cx="1097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SLOPE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02920" y="4306824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from SRTM 30m DEM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103120" y="399592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Terrain factor weighting in SBVI — beetle spread patterns correlate with slope aspect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577840" y="960120"/>
            <a:ext cx="3291840" cy="868680"/>
          </a:xfrm>
          <a:prstGeom prst="rect">
            <a:avLst/>
          </a:prstGeom>
          <a:solidFill>
            <a:srgbClr val="1A3A26"/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0" y="1169729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7BC62"/>
                </a:solidFill>
              </a:rPr>
              <a:t>Oct 2023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69280" y="1462337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8F72"/>
                </a:solidFill>
              </a:rPr>
              <a:t>BASELINE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223760" y="1178873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NDVI: 0.647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223760" y="1462337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NDMI: 0.197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577840" y="1947672"/>
            <a:ext cx="3291840" cy="868680"/>
          </a:xfrm>
          <a:prstGeom prst="rect">
            <a:avLst/>
          </a:prstGeom>
          <a:solidFill>
            <a:srgbClr val="1A3A26"/>
          </a:solidFill>
          <a:ln w="12700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0" y="2143213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B84B"/>
                </a:solidFill>
              </a:rPr>
              <a:t>Mar 2024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69280" y="2435821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8F72"/>
                </a:solidFill>
              </a:rPr>
              <a:t>PRE-STRESS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23760" y="2152357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NDVI: 0.535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223760" y="2435821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NDMI: 0.083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577840" y="2935224"/>
            <a:ext cx="3291840" cy="868680"/>
          </a:xfrm>
          <a:prstGeom prst="rect">
            <a:avLst/>
          </a:prstGeom>
          <a:solidFill>
            <a:srgbClr val="1A3A26"/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69280" y="3165935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020"/>
                </a:solidFill>
              </a:rPr>
              <a:t>Oct 2024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669280" y="3458543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8F72"/>
                </a:solidFill>
              </a:rPr>
              <a:t>PEAK DAMAGE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223760" y="3175079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NDVI: 0.619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7223760" y="3458543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NDMI: 0.195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577840" y="3922776"/>
            <a:ext cx="3291840" cy="868680"/>
          </a:xfrm>
          <a:prstGeom prst="rect">
            <a:avLst/>
          </a:prstGeom>
          <a:solidFill>
            <a:srgbClr val="1A3A26"/>
          </a:solidFill>
          <a:ln w="12700">
            <a:solidFill>
              <a:srgbClr val="E05252">
                <a:alpha val="4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669280" y="4167554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252"/>
                </a:solidFill>
              </a:rPr>
              <a:t>Jun 2025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669280" y="4460162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6B8F72"/>
                </a:solidFill>
              </a:rPr>
              <a:t>CURRENT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23760" y="4176698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NDVI: 0.500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223760" y="4460162"/>
            <a:ext cx="1463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NDMI: 0.064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474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RESEARCH CONTRIBUTION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75607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 Borer Vulnerability Index (SBVI)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6317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3020"/>
                </a:solidFill>
              </a:rPr>
              <a:t>The SBVI is an original composite geospatial risk index — no equivalent index existed for Hoplocerambyx spinicornis in Himalayan Sal forests prior to this work.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64008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6984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SBVI  =  (NDVI_stress × 0.35)  +  (NDMI_stress × 0.35)  +  (NBR_stress × 0.20)  +  (SAR_stress × 0.10)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1600200" cy="1005840"/>
          </a:xfrm>
          <a:prstGeom prst="rect">
            <a:avLst/>
          </a:prstGeom>
          <a:solidFill>
            <a:srgbClr val="52C778">
              <a:alpha val="13000"/>
            </a:srgbClr>
          </a:solidFill>
          <a:ln w="12700">
            <a:solidFill>
              <a:srgbClr val="52C778">
                <a:alpha val="53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31375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2C778"/>
                </a:solidFill>
              </a:rPr>
              <a:t>Very 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96551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0.45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020"/>
                </a:solidFill>
              </a:rPr>
              <a:t>Routine monitoring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1828800"/>
            <a:ext cx="1600200" cy="1005840"/>
          </a:xfrm>
          <a:prstGeom prst="rect">
            <a:avLst/>
          </a:prstGeom>
          <a:solidFill>
            <a:srgbClr val="A8D870">
              <a:alpha val="13000"/>
            </a:srgbClr>
          </a:solidFill>
          <a:ln w="12700">
            <a:solidFill>
              <a:srgbClr val="A8D870">
                <a:alpha val="5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2031375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870"/>
                </a:solidFill>
              </a:rPr>
              <a:t>Low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296551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0.45–0.58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0312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020"/>
                </a:solidFill>
              </a:rPr>
              <a:t>Periodic inspection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49040" y="1828800"/>
            <a:ext cx="1600200" cy="1005840"/>
          </a:xfrm>
          <a:prstGeom prst="rect">
            <a:avLst/>
          </a:prstGeom>
          <a:solidFill>
            <a:srgbClr val="F0C040">
              <a:alpha val="13000"/>
            </a:srgbClr>
          </a:solidFill>
          <a:ln w="12700">
            <a:solidFill>
              <a:srgbClr val="F0C040">
                <a:alpha val="5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031375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C040"/>
                </a:solidFill>
              </a:rPr>
              <a:t>Moderate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296551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0.58–0.68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9476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020"/>
                </a:solidFill>
              </a:rPr>
              <a:t>Field team dispatch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40680" y="1828800"/>
            <a:ext cx="1600200" cy="1005840"/>
          </a:xfrm>
          <a:prstGeom prst="rect">
            <a:avLst/>
          </a:prstGeom>
          <a:solidFill>
            <a:srgbClr val="F08040">
              <a:alpha val="13000"/>
            </a:srgbClr>
          </a:solidFill>
          <a:ln w="12700">
            <a:solidFill>
              <a:srgbClr val="F08040">
                <a:alpha val="53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40680" y="2031375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8040"/>
                </a:solidFill>
              </a:rPr>
              <a:t>High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296551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0.68–0.78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020"/>
                </a:solidFill>
              </a:rPr>
              <a:t>FRI assessment required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32320" y="1828800"/>
            <a:ext cx="1600200" cy="1005840"/>
          </a:xfrm>
          <a:prstGeom prst="rect">
            <a:avLst/>
          </a:prstGeom>
          <a:solidFill>
            <a:srgbClr val="E05252">
              <a:alpha val="13000"/>
            </a:srgbClr>
          </a:solidFill>
          <a:ln w="12700">
            <a:solidFill>
              <a:srgbClr val="E05252">
                <a:alpha val="53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2031375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252"/>
                </a:solidFill>
              </a:rPr>
              <a:t>Very High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296551"/>
            <a:ext cx="1600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3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0.78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78040" y="24231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3020"/>
                </a:solidFill>
              </a:rPr>
              <a:t>Immediate intervention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2971800"/>
            <a:ext cx="4023360" cy="1888584"/>
          </a:xfrm>
          <a:prstGeom prst="rect">
            <a:avLst/>
          </a:prstGeom>
          <a:solidFill>
            <a:srgbClr val="1B3A2D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320462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STUDY AREA RESULTS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4698" y="3611176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Mean SBVI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87658" y="3611176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0.529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84938" y="3611176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Min SBVI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7898" y="3611176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0.114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4698" y="3995224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Max SBVI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87658" y="3995224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584938" y="3995224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Valid Pixels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07898" y="3995224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4698" y="4379272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Very High Risk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487658" y="4379272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px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84938" y="4379272"/>
            <a:ext cx="1371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High Risk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407898" y="4379272"/>
            <a:ext cx="91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px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2971799"/>
            <a:ext cx="4206240" cy="1888585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24489" y="3120214"/>
            <a:ext cx="40233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WHY SBVI IS NOVEL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3364992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✦  Specifically calibrated for Hoplocerambyx spinicornis beetle-host system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3703320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✦  Combines 4 spectral indices weighted by ecological significance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4041648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✦  Multi-temporal validation across 4 Sentinel-2 scenes 2023–2025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4379976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✦  Vectorised into GeoJSON for direct WebGIS deployment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4718304"/>
            <a:ext cx="3931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✦  Replicable for any bark beetle species globally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857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SBVI Satellite Risk Classifier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896112"/>
            <a:ext cx="2697480" cy="1417320"/>
          </a:xfrm>
          <a:prstGeom prst="rect">
            <a:avLst/>
          </a:prstGeom>
          <a:solidFill>
            <a:srgbClr val="142E1E"/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237957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88.8%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365760" y="169164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EC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938528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200 estimators · max_depth=10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Balanced class weights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46120" y="896112"/>
            <a:ext cx="2697480" cy="1417320"/>
          </a:xfrm>
          <a:prstGeom prst="rect">
            <a:avLst/>
          </a:prstGeom>
          <a:solidFill>
            <a:srgbClr val="142E1E"/>
          </a:solidFill>
          <a:ln w="12700">
            <a:solidFill>
              <a:srgbClr val="E8B84B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8980" y="1227406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97.5%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3246120" y="169164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EC"/>
                </a:solidFill>
              </a:rPr>
              <a:t>XGBoost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46120" y="1938528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200 estimators · LR=0.05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Subsample=0.8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896112"/>
            <a:ext cx="2697480" cy="1417320"/>
          </a:xfrm>
          <a:prstGeom prst="rect">
            <a:avLst/>
          </a:prstGeom>
          <a:solidFill>
            <a:srgbClr val="142E1E"/>
          </a:solidFill>
          <a:ln w="12700">
            <a:solidFill>
              <a:srgbClr val="6BA8D0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53912" y="1216855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BA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93.1%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6126480" y="1691640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4EC"/>
                </a:solidFill>
              </a:rPr>
              <a:t>Ensemble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26480" y="1938528"/>
            <a:ext cx="2697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Average of RF+XGB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probabilities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468880"/>
            <a:ext cx="3200400" cy="411480"/>
          </a:xfrm>
          <a:prstGeom prst="rect">
            <a:avLst/>
          </a:prstGeom>
          <a:solidFill>
            <a:srgbClr val="1A402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643319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78C"/>
                </a:solidFill>
              </a:rPr>
              <a:t>Validation: 5-fold Stratified Cross-Validation · 80 labeled pixels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2971800"/>
            <a:ext cx="5029200" cy="187452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113181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21 INPUT FEATURES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" y="3337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NDVI at baseline, pre-stress, peak, current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" y="3621024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NDMI at baseline, pre-stress, peak, current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02920" y="3904488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NDVI difference Oct24–Oct23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02920" y="4187952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NDMI difference Oct24–Oct23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4471416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NBR at baseline, current, peak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971800" y="3337560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SBVI raw score · SLOPE factor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971800" y="3621024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NDVI total drop (baseline–current)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971800" y="3904488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NDMI total drop · NBR change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971800" y="4187952"/>
            <a:ext cx="2377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NDVI ratio · NDMI ratio (relative decline)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577840" y="2971800"/>
            <a:ext cx="3200400" cy="1874520"/>
          </a:xfrm>
          <a:prstGeom prst="rect">
            <a:avLst/>
          </a:prstGeom>
          <a:solidFill>
            <a:srgbClr val="1A3A26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3035808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FEATURE IMPORTANCE (RF)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648706" y="3225019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sbvi_raw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452360" y="333756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0.391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715000" y="3297821"/>
            <a:ext cx="1787652" cy="91440"/>
          </a:xfrm>
          <a:prstGeom prst="rect">
            <a:avLst/>
          </a:prstGeom>
          <a:solidFill>
            <a:srgbClr val="97BC62">
              <a:alpha val="53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6" name="Text 33"/>
          <p:cNvSpPr/>
          <p:nvPr/>
        </p:nvSpPr>
        <p:spPr>
          <a:xfrm>
            <a:off x="5648706" y="3505669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ndmi_diff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7452360" y="3639312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0.073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716758" y="3607309"/>
            <a:ext cx="333756" cy="91440"/>
          </a:xfrm>
          <a:prstGeom prst="rect">
            <a:avLst/>
          </a:prstGeom>
          <a:solidFill>
            <a:srgbClr val="97BC62">
              <a:alpha val="53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648706" y="3793353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ndmi_diff_e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452360" y="3941064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0.066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715000" y="3916094"/>
            <a:ext cx="301752" cy="91440"/>
          </a:xfrm>
          <a:prstGeom prst="rect">
            <a:avLst/>
          </a:prstGeom>
          <a:solidFill>
            <a:srgbClr val="97BC62">
              <a:alpha val="53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669280" y="4095105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nbr_change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7452360" y="4242816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0.055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701284" y="4217845"/>
            <a:ext cx="251460" cy="91440"/>
          </a:xfrm>
          <a:prstGeom prst="rect">
            <a:avLst/>
          </a:prstGeom>
          <a:solidFill>
            <a:srgbClr val="97BC62">
              <a:alpha val="53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01284" y="4403891"/>
            <a:ext cx="19202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ndmi_total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7452360" y="4544568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7BC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0.049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715000" y="4526630"/>
            <a:ext cx="224028" cy="91440"/>
          </a:xfrm>
          <a:prstGeom prst="rect">
            <a:avLst/>
          </a:prstGeom>
          <a:solidFill>
            <a:srgbClr val="97BC62">
              <a:alpha val="53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991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MODEL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29768" y="460014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 Image Classifier — CNN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118873"/>
            <a:ext cx="704087" cy="7040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868680"/>
            <a:ext cx="2560320" cy="1508760"/>
          </a:xfrm>
          <a:prstGeom prst="rect">
            <a:avLst/>
          </a:prstGeom>
          <a:solidFill>
            <a:srgbClr val="1A302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41474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92.7%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457200" y="1755648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Validation Accuracy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F72"/>
                </a:solidFill>
              </a:rPr>
              <a:t>3 classes · 137 val images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868680"/>
            <a:ext cx="5577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914400"/>
            <a:ext cx="5394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7BC62"/>
                </a:solidFill>
              </a:rPr>
              <a:t>CNN ARCHITECTURE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337560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00984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Input 96×96×3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858768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41064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04488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Conv2D 32 + BN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462272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44568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07992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Conv2D 32 + Pool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65776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148072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11496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Conv2D 64 + BN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69280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51576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Conv2D 64 + Pool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72784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355080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18504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Conv2D 128 + BN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76288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958584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922008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GlobalAvgPool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479792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562088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512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Dense 256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8083296" y="1444752"/>
            <a:ext cx="137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7BC62"/>
                </a:solidFill>
              </a:rPr>
              <a:t>→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165592" y="1234440"/>
            <a:ext cx="548640" cy="640080"/>
          </a:xfrm>
          <a:prstGeom prst="rect">
            <a:avLst/>
          </a:prstGeom>
          <a:solidFill>
            <a:srgbClr val="97BC62">
              <a:alpha val="20000"/>
            </a:srgbClr>
          </a:solidFill>
          <a:ln w="12700">
            <a:solidFill>
              <a:srgbClr val="97BC62">
                <a:alpha val="4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29016" y="1554480"/>
            <a:ext cx="640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3020"/>
                </a:solidFill>
              </a:rPr>
              <a:t>Dense 3 Softmax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57200" y="2560320"/>
            <a:ext cx="40233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4360" y="27389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TRAINING SETUP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4360" y="297180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Dataset: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1783080" y="29718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691 clean images (after corruption cleanup)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594360" y="324612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Training: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783080" y="32461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554 images  ·  Validation: 137 images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594360" y="352044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Input Size: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1783080" y="35204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96 × 96 × 3 (RGB)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594360" y="379476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Batch Size: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1783080" y="379476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4 (low-RAM optimised)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94360" y="406908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Phase 1: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1783080" y="40690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Head training — 8 epochs, LR=0.001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594360" y="434340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Phase 2: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1783080" y="43434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Fine-tune top layers — 5 epochs, LR=0.0001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594360" y="4617720"/>
            <a:ext cx="1188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020"/>
                </a:solidFill>
              </a:rPr>
              <a:t>Augmentation: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1783080" y="46177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Rotation 30° · Flip · Zoom 20% · Brightness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663440" y="2560320"/>
            <a:ext cx="4114800" cy="224028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800600" y="273898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7BC62"/>
                </a:solidFill>
              </a:rPr>
              <a:t>DATASET SOURCES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800600" y="2999232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7BC62"/>
                </a:solidFill>
              </a:rPr>
              <a:t>▸ Healthy (211)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4800600" y="3218688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iNaturalist Shorea robusta · Wikimedia Forest/Forestry categories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4800600" y="3657600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7BC62"/>
                </a:solidFill>
              </a:rPr>
              <a:t>▸ Stressed (274)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4800600" y="3877056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PlantDoc disease dataset — blight, scab, rot, spot classes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4800600" y="4315968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7BC62"/>
                </a:solidFill>
              </a:rPr>
              <a:t>▸ Infected (206)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4800600" y="4535424"/>
            <a:ext cx="3840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PlantDoc severe + Wikimedia Bark_beetle_damage category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7303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· 5 MODULES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" y="47408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SAL-SHIELD WebGIS Platform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498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88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079695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7BC6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7552" y="124358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Live Leaflet GIS map with SBVI risk zones from real Sentinel-2 data. 5-class risk toggle, clickable zone detail modal, NDVI trend mini-chart, active alert panel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65760" y="1737360"/>
            <a:ext cx="8412480" cy="7498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1109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188858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252"/>
                </a:solidFill>
              </a:rPr>
              <a:t>Field Report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87552" y="206654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Phone camera opens, guard photographs tree. CNN classifies in 2 seconds. GPS auto-tagged. Works fully offline — queues to IndexedDB, auto-syncs on signal return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65760" y="2560320"/>
            <a:ext cx="8412480" cy="7498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340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87552" y="273405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84B"/>
                </a:solidFill>
              </a:rPr>
              <a:t>Analytics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87552" y="288950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Multi-temporal NDVI/NDMI charts from real Sentinel-2 values. SBVI bar chart by zone. Infestation trend vs vegetation decline correlation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3383280"/>
            <a:ext cx="8412480" cy="7498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55701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7552" y="3557016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A8D0"/>
                </a:solidFill>
              </a:rPr>
              <a:t>Reports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87552" y="371246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Full table of all guard submissions. Filter by status (infected/stressed/healthy). Confidence bar visualisation. Sync status per report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7997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7552" y="4378569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D78C"/>
                </a:solidFill>
              </a:rPr>
              <a:t>Saved (Offline)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987552" y="4535424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Offline report manager. Shows all IndexedDB-cached reports with GPS, classification, notes. Sync All, export CSV, delete individual reports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508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DEPLOYMENT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9615" y="52331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Offline-Capable Progressive Web App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Play Store publishing · Installs directly from browser · Works in dense forest with zero signal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747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Guard opens app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319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Via browser on phone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No installation needed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58191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8191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Add to Home Screen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2763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Chrome prompts PWA install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Opens like native app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9748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81635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81635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6207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Enter forest (no signal)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86207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App loaded from cache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Fully functional offline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3192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05079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05079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9651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Photograph tree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9651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Camera opens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GPS coordinates captured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6636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28523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28523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095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AI classification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3095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CNN runs in 2 seconds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Healthy / Stressed / Infected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0080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1967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651967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Report saved locally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6539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Stored in IndexedDB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Nothing is lost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635240" y="2543439"/>
            <a:ext cx="15544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7BC62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754112" y="1280160"/>
            <a:ext cx="1143000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1527752"/>
            <a:ext cx="1143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F1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7754112" y="1810512"/>
            <a:ext cx="1143000" cy="1463040"/>
          </a:xfrm>
          <a:prstGeom prst="rect">
            <a:avLst/>
          </a:prstGeom>
          <a:solidFill>
            <a:srgbClr val="1A3020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99832" y="2095383"/>
            <a:ext cx="1051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0F4EC"/>
                </a:solidFill>
              </a:rPr>
              <a:t>Signal returns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799832" y="2176272"/>
            <a:ext cx="10515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Auto-sync in background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F72"/>
                </a:solidFill>
              </a:rPr>
              <a:t>Report appears on dashboard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3401568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67588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</a:rPr>
              <a:t>Service Worker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3767328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Workbox caches all app assets and map tiles on first load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542032" y="3401568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33472" y="367588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</a:rPr>
              <a:t>IndexedDB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633472" y="3767328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Browser database stores reports, photos, GPS locally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718304" y="3401568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09744" y="367588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</a:rPr>
              <a:t>Cache API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09744" y="3767328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Map tiles cached for 7 days — offline map navigation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94576" y="3401568"/>
            <a:ext cx="20116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86016" y="367588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</a:rPr>
              <a:t>Background Sync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86016" y="3767328"/>
            <a:ext cx="18288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020"/>
                </a:solidFill>
              </a:rPr>
              <a:t>Auto-sends queued reports when connectivity returns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8111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627632" cy="3840480"/>
          </a:xfrm>
          <a:prstGeom prst="rect">
            <a:avLst/>
          </a:prstGeom>
          <a:solidFill>
            <a:srgbClr val="2A5230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5203"/>
            <a:ext cx="162763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SATELLITE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Sentinel-2 ESA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15482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462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Landsat 8/9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74918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406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CHIRPS Rainfall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34354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349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SRTM DEM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703460"/>
            <a:ext cx="2011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75688" y="914400"/>
            <a:ext cx="1627632" cy="3840480"/>
          </a:xfrm>
          <a:prstGeom prst="rect">
            <a:avLst/>
          </a:prstGeom>
          <a:solidFill>
            <a:srgbClr val="1F3D2A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5688" y="1185203"/>
            <a:ext cx="162763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GIS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21408" y="15087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QGIS + Rasterio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58568" y="215482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1408" y="22462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NDVI/NDMI/NBR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58568" y="274918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1408" y="28406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4 time periods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58568" y="334354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21408" y="34349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SBVI formula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75888" y="2703460"/>
            <a:ext cx="2011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831336" y="914400"/>
            <a:ext cx="1627632" cy="3840480"/>
          </a:xfrm>
          <a:prstGeom prst="rect">
            <a:avLst/>
          </a:prstGeom>
          <a:solidFill>
            <a:srgbClr val="17301F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31336" y="1185203"/>
            <a:ext cx="162763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ENGINE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77056" y="15087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RF 200 trees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14216" y="215482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22462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XGBoost 200est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014216" y="274918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77056" y="28406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CNN 92.7%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014216" y="334354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34349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Feature matrix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31536" y="2703460"/>
            <a:ext cx="2011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5586984" y="914400"/>
            <a:ext cx="1627632" cy="3840480"/>
          </a:xfrm>
          <a:prstGeom prst="rect">
            <a:avLst/>
          </a:prstGeom>
          <a:solidFill>
            <a:srgbClr val="102818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86984" y="1185203"/>
            <a:ext cx="162763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FLASK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API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32704" y="15087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/risk-zones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69864" y="215482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32704" y="22462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/predict/image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769864" y="274918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32704" y="28406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/field-report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69864" y="334354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32704" y="34349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SQLite DB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87184" y="2703460"/>
            <a:ext cx="201168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7BC62"/>
                </a:solidFill>
              </a:rPr>
              <a:t>→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7342632" y="914400"/>
            <a:ext cx="1627632" cy="3840480"/>
          </a:xfrm>
          <a:prstGeom prst="rect">
            <a:avLst/>
          </a:prstGeom>
          <a:solidFill>
            <a:srgbClr val="0A1F14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42632" y="1185203"/>
            <a:ext cx="1627632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REACT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kern="0" spc="50" dirty="0">
                <a:solidFill>
                  <a:srgbClr val="97BC62"/>
                </a:solidFill>
              </a:rPr>
              <a:t>FRONTEND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388352" y="15087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Leaflet GIS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25512" y="215482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88352" y="224626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Recharts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25512" y="274918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88352" y="284062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5 pages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525512" y="3343540"/>
            <a:ext cx="1261872" cy="18288"/>
          </a:xfrm>
          <a:prstGeom prst="rect">
            <a:avLst/>
          </a:prstGeom>
          <a:solidFill>
            <a:srgbClr val="3A5040"/>
          </a:solidFill>
          <a:ln w="12700">
            <a:solidFill>
              <a:srgbClr val="3A504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88352" y="3434980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F72"/>
                </a:solidFill>
              </a:rPr>
              <a:t>Vite + PWA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4800600"/>
            <a:ext cx="8503920" cy="320040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882192"/>
            <a:ext cx="8321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</a:rPr>
              <a:t>Hosting: Vercel (Frontend) · Render (Backend) · Total infrastructure cost: ₹0 · All data sources: free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177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&amp; OPEN SOURCE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" y="474081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743478"/>
            <a:ext cx="2011680" cy="3977640"/>
          </a:xfrm>
          <a:prstGeom prst="rect">
            <a:avLst/>
          </a:prstGeom>
          <a:solidFill>
            <a:srgbClr val="2A5230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4428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97BC62"/>
                </a:solidFill>
              </a:rPr>
              <a:t>SATELLITE &amp; GIS 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69234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Sentinel-2 (ESA — free)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678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Landsat 8/9 (NASA — free)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43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CHIRPS Rainfall (UCSB — free)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11880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SRTM 30m DEM (NASA — free)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594296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QGIS · Rasterio · GDAL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06978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Google Earth Engine (free tier)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743478"/>
            <a:ext cx="2011680" cy="3977640"/>
          </a:xfrm>
          <a:prstGeom prst="rect">
            <a:avLst/>
          </a:prstGeom>
          <a:solidFill>
            <a:srgbClr val="1F3D2A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24428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97BC62"/>
                </a:solidFill>
              </a:rPr>
              <a:t>ML &amp; 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33472" y="169234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Python 3.13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33472" y="21678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scikit-learn 1.5.2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33472" y="2643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XGBoost 2.1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33472" y="311880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TensorFlow 2.21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33472" y="3594296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Keras CNN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33472" y="406978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NumPy · StandardScaler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304" y="743478"/>
            <a:ext cx="2011680" cy="3977640"/>
          </a:xfrm>
          <a:prstGeom prst="rect">
            <a:avLst/>
          </a:prstGeom>
          <a:solidFill>
            <a:srgbClr val="142E1E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124428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97BC62"/>
                </a:solidFill>
              </a:rPr>
              <a:t>BACKEND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9744" y="169234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Flask 3.0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9744" y="21678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Flask-CORS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9744" y="2643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SQLite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9744" y="311880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Werkzeug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9744" y="3594296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Gunicorn (prod)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406978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python-dotenv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94576" y="743478"/>
            <a:ext cx="2011680" cy="3977640"/>
          </a:xfrm>
          <a:prstGeom prst="rect">
            <a:avLst/>
          </a:prstGeom>
          <a:solidFill>
            <a:srgbClr val="0F2A1A"/>
          </a:solidFill>
          <a:ln w="12700">
            <a:solidFill>
              <a:srgbClr val="3D66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24428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97BC62"/>
                </a:solidFill>
              </a:rPr>
              <a:t>FRONTEND &amp; PWA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86016" y="169234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React 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86016" y="2167832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Vite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86016" y="26433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Leaflet + React-Leaflet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86016" y="3118808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Recharts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86016" y="3594296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vite-plugin-pwa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86016" y="4069784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78C"/>
                </a:solidFill>
              </a:rPr>
              <a:t>IndexedDB (offline)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" y="4721118"/>
            <a:ext cx="8412480" cy="320040"/>
          </a:xfrm>
          <a:prstGeom prst="rect">
            <a:avLst/>
          </a:prstGeom>
          <a:solidFill>
            <a:srgbClr val="1A3020"/>
          </a:solidFill>
          <a:ln w="12700">
            <a:solidFill>
              <a:srgbClr val="1A30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8" name="Text 36"/>
          <p:cNvSpPr/>
          <p:nvPr/>
        </p:nvSpPr>
        <p:spPr>
          <a:xfrm>
            <a:off x="457200" y="482803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84B"/>
                </a:solidFill>
              </a:rPr>
              <a:t>Deployment: Vercel (frontend HTTPS) + Render (backend Python) · No licenses · No paid APIs · No drone hardware required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100593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408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SAL-SHIELD Delivers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97BC62">
                <a:alpha val="27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29844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RF 88.8%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57276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Random Forest accuracy on SBVI satellite classification · 5-fold CV · exceeds 85% target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91440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E8B84B">
                <a:alpha val="27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5156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129844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 97.5%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3337560" y="157276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XGBoost accuracy · highest performing model · top feature: NDMI difference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91440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6BA8D0">
                <a:alpha val="27000"/>
              </a:srgbClr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515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298448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A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CNN 92.7%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6217920" y="157276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Tree image classifier · 691 training images · Healthy/Stressed/Infected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292608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E05252">
                <a:alpha val="27000"/>
              </a:srgbClr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06324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33123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Risk Zones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457200" y="35844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Real SBVI polygons from Sentinel-2: Very Low → Very High covering study area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46120" y="292608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B8D78C">
                <a:alpha val="2700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06324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40480" y="333123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D7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Scenes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3337560" y="35844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Temporal analysis: Oct 2023 baseline → Pre-stress → Peak damage → Jun 2025 current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26480" y="2926080"/>
            <a:ext cx="2697480" cy="1828800"/>
          </a:xfrm>
          <a:prstGeom prst="rect">
            <a:avLst/>
          </a:prstGeom>
          <a:solidFill>
            <a:srgbClr val="142E1E"/>
          </a:solidFill>
          <a:ln w="12700">
            <a:solidFill>
              <a:srgbClr val="E8B84B">
                <a:alpha val="27000"/>
              </a:srgbClr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63240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720840" y="333123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8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NDVI −22.7%</a:t>
            </a:r>
            <a:endParaRPr lang="en-US" sz="2000" dirty="0"/>
          </a:p>
        </p:txBody>
      </p:sp>
      <p:sp>
        <p:nvSpPr>
          <p:cNvPr id="28" name="Text 20"/>
          <p:cNvSpPr/>
          <p:nvPr/>
        </p:nvSpPr>
        <p:spPr>
          <a:xfrm>
            <a:off x="6217920" y="358444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F72"/>
                </a:solidFill>
              </a:rPr>
              <a:t>Measured vegetation health decline in the study area over the outbreak period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Scalability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>
                <a:alpha val="5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097280" cy="841248"/>
          </a:xfrm>
          <a:prstGeom prst="rect">
            <a:avLst/>
          </a:prstGeom>
          <a:solidFill>
            <a:srgbClr val="97BC62">
              <a:alpha val="13000"/>
            </a:srgbClr>
          </a:solidFill>
          <a:ln w="12700">
            <a:solidFill>
              <a:srgbClr val="97BC62">
                <a:alpha val="5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92821"/>
            <a:ext cx="106070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7BC62"/>
                </a:solidFill>
              </a:rPr>
              <a:t>Phase 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54480" y="1197161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20"/>
                </a:solidFill>
              </a:rPr>
              <a:t>FRI Ground Truth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30759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4A"/>
                </a:solidFill>
              </a:rPr>
              <a:t>Collaborate with FRI Dehradun to obtain GPS coordinates of confirmed infested trees. Replace SBVI pseudo-labels with verified field observations — expected to push RF accuracy to 90%+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47672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B84B">
                <a:alpha val="5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47672"/>
            <a:ext cx="1097280" cy="841248"/>
          </a:xfrm>
          <a:prstGeom prst="rect">
            <a:avLst/>
          </a:prstGeom>
          <a:solidFill>
            <a:srgbClr val="E8B84B">
              <a:alpha val="13000"/>
            </a:srgbClr>
          </a:solidFill>
          <a:ln w="12700">
            <a:solidFill>
              <a:srgbClr val="E8B84B">
                <a:alpha val="53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83186"/>
            <a:ext cx="106070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B84B"/>
                </a:solidFill>
              </a:rPr>
              <a:t>Phase 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54480" y="2108044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20"/>
                </a:solidFill>
              </a:rPr>
              <a:t>Real-Time Satellite Pipeline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29514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4A"/>
                </a:solidFill>
              </a:rPr>
              <a:t>Automate Sentinel-2 download via Google Earth Engine API. Schedule weekly SBVI recomputation. Dashboard updates automatically without manual GIS processing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35224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6BA8D0">
                <a:alpha val="5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35224"/>
            <a:ext cx="1097280" cy="841248"/>
          </a:xfrm>
          <a:prstGeom prst="rect">
            <a:avLst/>
          </a:prstGeom>
          <a:solidFill>
            <a:srgbClr val="6BA8D0">
              <a:alpha val="13000"/>
            </a:srgbClr>
          </a:solidFill>
          <a:ln w="12700">
            <a:solidFill>
              <a:srgbClr val="6BA8D0">
                <a:alpha val="53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82696"/>
            <a:ext cx="106070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A8D0"/>
                </a:solidFill>
              </a:rPr>
              <a:t>Phase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3191256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20"/>
                </a:solidFill>
              </a:rPr>
              <a:t>Multi-Forest Generalisation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28269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4A"/>
                </a:solidFill>
              </a:rPr>
              <a:t>Extend SBVI framework to other forest types (Chir Pine, Banj Oak) and other beetle species. The pipeline is fully replicable with local calibration of index weights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22776"/>
            <a:ext cx="84124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B8D78C">
                <a:alpha val="5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22776"/>
            <a:ext cx="1097280" cy="841248"/>
          </a:xfrm>
          <a:prstGeom prst="rect">
            <a:avLst/>
          </a:prstGeom>
          <a:solidFill>
            <a:srgbClr val="B8D78C">
              <a:alpha val="13000"/>
            </a:srgbClr>
          </a:solidFill>
          <a:ln w="12700">
            <a:solidFill>
              <a:srgbClr val="B8D78C">
                <a:alpha val="53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256884"/>
            <a:ext cx="1060704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D78C"/>
                </a:solidFill>
              </a:rPr>
              <a:t>Phase 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554480" y="4178808"/>
            <a:ext cx="7040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020"/>
                </a:solidFill>
              </a:rPr>
              <a:t>Forest Department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427024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A4A"/>
                </a:solidFill>
              </a:rPr>
              <a:t>REST API integration with Uttarakhand Forest Information System. FRI partnership for operational deployment. Mobile app for forest officers with role-based access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488149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Contributors &amp; Acknowledgements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095873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EC"/>
                </a:solidFill>
              </a:rPr>
              <a:t>Nitanshu Tak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357532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B.Tech CSE · Cloud Computing &amp; Virtualization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417320" y="1576988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UPES Dehradun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67619" y="204333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ML Pipeline Design &amp; Training (RF · XGB · CNN)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67619" y="2299364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Flask REST API &amp; SQLite Database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67619" y="2555396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React WebGIS Dashboard + 5 pages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67619" y="2811428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PWA Architecture &amp; Offline Sync System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67619" y="30674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GeoJSON Processing &amp; Risk Zone Vectorisation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7619" y="3323492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System Deployment &amp; Architecture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05840"/>
            <a:ext cx="822960" cy="8229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77840" y="1095873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F4EC"/>
                </a:solidFill>
              </a:rPr>
              <a:t>Chandreyee Dey Roy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532120" y="1478514"/>
            <a:ext cx="3200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GIS &amp; Satellite Data Specialist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282419" y="2043332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Sentinel-2 Data Acquisition (ESA/GEE)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282419" y="2299364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NDVI · NDMI · NBR Index Computation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282419" y="2555396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SBVI Formula Derivation &amp; Weighting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282419" y="2811428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4-Scene Temporal Analysis (2023–2025)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282419" y="306746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SBVI_raw.tif &amp; SBVI_dissolved.shp Output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282419" y="3323492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F72"/>
                </a:solidFill>
              </a:rPr>
              <a:t>· SLOPE terrain processing from SRTM DEM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65760" y="3931919"/>
            <a:ext cx="8503920" cy="914400"/>
          </a:xfrm>
          <a:prstGeom prst="rect">
            <a:avLst/>
          </a:prstGeom>
          <a:solidFill>
            <a:srgbClr val="1A4025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069079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294228" y="4131681"/>
            <a:ext cx="7406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84B"/>
                </a:solidFill>
              </a:rPr>
              <a:t>Faculty Supervisor · Prof. Nadeem Yousuf Khan · UPES Dehradun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1280160" y="4279391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Project initiated under Prof. Khan's guidance in response to the active Sal borer ecological emergency in Uttarakhand. Targeting HILL Conference October 2025 with potential IEEE/Springer follow-up publication.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0" y="5010912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SAL-SHIELD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991773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· Real Data ·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0F4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Cost · Conference-Ready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848495"/>
            <a:ext cx="8321040" cy="603504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58223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958223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7BC62"/>
                </a:solidFill>
              </a:rPr>
              <a:t>NOVEL RESEARCH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97280" y="2253644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Original SBVI index · First ML system for H. spinicornis in Himalayan Sal forests · Publishable methodology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2534295"/>
            <a:ext cx="8321040" cy="603504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44023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644023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84B"/>
                </a:solidFill>
              </a:rPr>
              <a:t>REAL DATA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1097280" y="2904275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Actual Sentinel-2 scenes · Real outbreak zones · Real accuracy on real labeled pixels from study area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3220095"/>
            <a:ext cx="8321040" cy="603504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29823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3249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A8D0"/>
                </a:solidFill>
              </a:rPr>
              <a:t>ZERO COST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097280" y="3590075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₹0 infrastructure · Free satellite data (ESA/NASA) · Free ML frameworks · Free hosting (Vercel/Render)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905895"/>
            <a:ext cx="8321040" cy="603504"/>
          </a:xfrm>
          <a:prstGeom prst="rect">
            <a:avLst/>
          </a:prstGeom>
          <a:solidFill>
            <a:srgbClr val="142E1E"/>
          </a:solidFill>
          <a:ln w="12700">
            <a:solidFill>
              <a:srgbClr val="2E5240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015623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97280" y="4015623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D78C"/>
                </a:solidFill>
              </a:rPr>
              <a:t>FULLY DEPLOYED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097280" y="4275876"/>
            <a:ext cx="74980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F72"/>
                </a:solidFill>
              </a:rPr>
              <a:t>Working web platform · 3 models above 85% · PWA on phone · Offline field reporting · GitHub ready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457200" y="4518543"/>
            <a:ext cx="8321040" cy="347472"/>
          </a:xfrm>
          <a:prstGeom prst="rect">
            <a:avLst/>
          </a:prstGeom>
          <a:solidFill>
            <a:srgbClr val="1A402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48640" y="4635305"/>
            <a:ext cx="8138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D78C"/>
                </a:solidFill>
              </a:rPr>
              <a:t>RF 88.8%  ·  XGB 97.5%  ·  CNN 92.7%  ·  Real Sentinel-2 Data  ·  ₹0 Cost  ·  HILL Conference October 2025  ·  UPES Dehradun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0" y="5083009"/>
            <a:ext cx="91440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39A30D-5411-9061-F6A7-3B37574936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4228" y="105157"/>
            <a:ext cx="2340863" cy="23408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2109</Words>
  <Application>Microsoft Office PowerPoint</Application>
  <PresentationFormat>On-screen Show (16:9)</PresentationFormat>
  <Paragraphs>416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SAL-SHIELD Project Presentation</dc:title>
  <dc:subject>PptxGenJS Presentation</dc:subject>
  <dc:creator>Nitanshu Tak &amp; Chandreyee Dey Roy</dc:creator>
  <cp:lastModifiedBy>Nitanshu Tak</cp:lastModifiedBy>
  <cp:revision>3</cp:revision>
  <dcterms:created xsi:type="dcterms:W3CDTF">2026-06-17T10:35:07Z</dcterms:created>
  <dcterms:modified xsi:type="dcterms:W3CDTF">2026-06-17T22:30:03Z</dcterms:modified>
</cp:coreProperties>
</file>